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00F0-EA2A-4099-BB99-3964D97E0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29A04-53B3-445C-8DA9-3A4B22489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28B62-C5D7-4196-B83D-681B664F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2C128-33C4-4793-920D-28B80996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D0743-403A-4AB2-A553-4DF429A2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1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CC4C-38FE-47DA-9582-A1497631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C3B4-8F2D-4C31-AF60-DFE198E47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BCAE6-9732-4172-98E1-0672F2C4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E4572-893D-43EA-A364-4EB19C9A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735C-CE92-4B53-A7FC-2F8CEEB4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54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CF70-9EC7-44F7-B992-EF154F09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C3044-6D91-4A8E-91B3-A72114A6C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B5954-5935-432B-9AC6-83C1314A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46602-F635-44A8-B9AB-B81DD8B5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3DAB6-39D1-46E3-909B-F4AD6E5F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37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EC61-56F4-4D7E-B505-6F9F7309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7F0E8-1260-4E63-9698-914F02253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73B6B-6CC5-4D18-AD67-755D3EED2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56F66-5F4A-4B8A-B0AB-9EE5D813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389E5-1EE5-4E41-A203-E3975EF2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47EF-CECD-4FBB-AC10-77EC7E14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80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F0CE-6DA5-44A0-A940-1675A355F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8EBD-957F-43D7-8922-B337B02AD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B9B55-FAF0-46DF-9F48-6BE3C7252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2DC05-C478-4154-8804-E47AA8598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129B4-88D0-404A-9949-71DF549F1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0C0DB-EDA8-484F-9120-D2A25E28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11D51-8836-4A09-B6EA-64D37E10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7A6BA-23BB-4AE8-A7CE-FA4BBBB2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75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0758C-EC03-40B2-9F1B-AABA7E4D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41A0C-C3E4-4F45-9CA0-4F4C1C04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2B719-71A2-421C-BB6D-339A9BFA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98ED0-E478-4DD7-9190-C240C326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35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5F238-BDEB-48B0-8D43-A6C30B89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30255-E00A-48CF-9574-4EBF3CDB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A98FD-777C-459B-A860-4CAD71EF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49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E784-8790-4FB2-B5FB-50D40FCB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06E11-DD54-43FD-9406-7A824EC24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73B09-7F79-43E3-8C3E-DC129581A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F4BBE-CB7C-4C0B-8E36-FEA6C142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B372E-624C-461F-810A-150E82ED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F171A-1479-4356-B49E-1DD65777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9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34FC-CFC3-4521-928C-F10ED685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8D85E-3F21-43E4-AA4D-8A13641C2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04C85-C83B-484C-827E-6198C35F7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F5CA7-8898-4DFE-B03F-5B7E3788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2D09E-07DC-4BEC-90BC-ECE636FC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25642-5E58-4C38-86E1-0017B9E5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5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C2E2-88FB-4E06-B0E1-D4C3F435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4F2C4-654B-4B4A-97FF-D1C2BCA21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6B22D-9C61-4C21-BB8E-1C344F5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41E7-9C08-4E65-8F11-81E08088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D7D8A-6C55-44D7-84D1-893F3311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4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2CC935-C8AE-4C99-B7E5-46756B54C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77DD2-F324-43B2-BA77-4B5F2A385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F8FD4-9C18-4F05-9B82-1FD3E7EB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53C6F-F55A-4A69-9F74-CD32534A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2373-A4B4-44F7-900D-514BBD29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2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6C3D8-A417-4491-BEDC-644FC695F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18ADE-AECF-498A-A3DE-395B2E32D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DF904-CE42-47FA-BFCF-D0951B524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B6CE1-41F8-42E8-8B52-016C2478E81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1FB96-444A-4E3F-8A7B-CF72D7B58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93868-EA1D-45A8-BA70-D360ACE1C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38096-96F4-468B-A504-124C78DCF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0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266633D-49F3-4226-871A-B2B0283C3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02826"/>
            <a:ext cx="12192001" cy="437687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F825437-22FD-42D2-B9EF-2E910D76DFD8}"/>
              </a:ext>
            </a:extLst>
          </p:cNvPr>
          <p:cNvSpPr/>
          <p:nvPr/>
        </p:nvSpPr>
        <p:spPr>
          <a:xfrm>
            <a:off x="-1" y="0"/>
            <a:ext cx="12192001" cy="107721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u="sng" dirty="0">
              <a:solidFill>
                <a:schemeClr val="tx1"/>
              </a:solidFill>
              <a:highlight>
                <a:srgbClr val="00FFFF"/>
              </a:highlight>
              <a:latin typeface="Bodoni MT Black" panose="02070A030806060202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B35B9-32E4-4592-A289-2060D06F550D}"/>
              </a:ext>
            </a:extLst>
          </p:cNvPr>
          <p:cNvSpPr txBox="1"/>
          <p:nvPr/>
        </p:nvSpPr>
        <p:spPr>
          <a:xfrm>
            <a:off x="-1" y="0"/>
            <a:ext cx="12192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Bodoni MT Black" panose="02070A03080606020203" pitchFamily="18" charset="0"/>
              </a:rPr>
              <a:t>MARKETPLACE REVENUE LEAKAGE &amp; GAP ANALYSIS USING SQL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0E4217-48FC-42EB-8B28-2F2941B6729B}"/>
              </a:ext>
            </a:extLst>
          </p:cNvPr>
          <p:cNvSpPr txBox="1"/>
          <p:nvPr/>
        </p:nvSpPr>
        <p:spPr>
          <a:xfrm rot="10800000" flipH="1" flipV="1">
            <a:off x="0" y="5226784"/>
            <a:ext cx="121920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Project Goal</a:t>
            </a:r>
          </a:p>
          <a:p>
            <a:r>
              <a:rPr lang="en-IN" sz="2400" b="1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Modern marketplaces often seen rising sales alongside declining profits due to hidden operational costs. This SQL project builds a comprehensive database analysis to pinpoint revenue leakage, evaluate discount impacts, and restore profitability margins.</a:t>
            </a:r>
            <a:endParaRPr lang="en-IN" sz="2800" b="1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62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2FEAA-33B3-475C-BDB4-01D81FCD0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2907"/>
            <a:ext cx="12191999" cy="5077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D51F72-43FB-478C-BEA3-17E8518546CA}"/>
              </a:ext>
            </a:extLst>
          </p:cNvPr>
          <p:cNvSpPr/>
          <p:nvPr/>
        </p:nvSpPr>
        <p:spPr>
          <a:xfrm>
            <a:off x="0" y="1"/>
            <a:ext cx="12191999" cy="68290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B17F3-8A1B-42C5-95FD-F48A54D90FD3}"/>
              </a:ext>
            </a:extLst>
          </p:cNvPr>
          <p:cNvSpPr txBox="1"/>
          <p:nvPr/>
        </p:nvSpPr>
        <p:spPr>
          <a:xfrm>
            <a:off x="0" y="-4326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Adobe Garamond Pro Bold" panose="02020702060506020403" pitchFamily="18" charset="0"/>
              </a:rPr>
              <a:t>Marketplace Database Architecture (ER Diagram)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FF1ED-6C25-4846-8F6A-787168DC523C}"/>
              </a:ext>
            </a:extLst>
          </p:cNvPr>
          <p:cNvSpPr txBox="1"/>
          <p:nvPr/>
        </p:nvSpPr>
        <p:spPr>
          <a:xfrm>
            <a:off x="0" y="5803274"/>
            <a:ext cx="12192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Project Objectives</a:t>
            </a:r>
          </a:p>
          <a:p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This ER diagram maps a marketplace database to connect products, orders, discounts, logistics and fees</a:t>
            </a:r>
            <a:r>
              <a:rPr lang="en-IN" sz="2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. </a:t>
            </a: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It is built to expose revenue leakage and maximize profit margins.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36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5CCDC3-C498-4113-9902-93836EAF1C43}"/>
              </a:ext>
            </a:extLst>
          </p:cNvPr>
          <p:cNvSpPr/>
          <p:nvPr/>
        </p:nvSpPr>
        <p:spPr>
          <a:xfrm>
            <a:off x="0" y="0"/>
            <a:ext cx="12192000" cy="6463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0DA7C-E3CF-4503-B99E-BBEA1205B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332"/>
            <a:ext cx="12192000" cy="4643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16D6B-7877-4AC0-9E0A-CB5F096326A9}"/>
              </a:ext>
            </a:extLst>
          </p:cNvPr>
          <p:cNvSpPr txBox="1"/>
          <p:nvPr/>
        </p:nvSpPr>
        <p:spPr>
          <a:xfrm rot="10800000" flipH="1" flipV="1">
            <a:off x="0" y="-3077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 – 1: Revenue vs Profit Reality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FD5C4-E60A-4B8D-AB3B-D8BC7A139EB4}"/>
              </a:ext>
            </a:extLst>
          </p:cNvPr>
          <p:cNvSpPr txBox="1"/>
          <p:nvPr/>
        </p:nvSpPr>
        <p:spPr>
          <a:xfrm rot="10800000" flipH="1" flipV="1">
            <a:off x="0" y="5365150"/>
            <a:ext cx="121920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Business Insights &amp; Strategic Recommendations</a:t>
            </a:r>
          </a:p>
          <a:p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We have successfully verified that our high sales revenue ($38.4M) translates efficiently into actual profit ($20.6M). Because the business is genuinely making money-retaining over 53 cents of every dollar sold-we can safely scale marketing operations to capture more market share.</a:t>
            </a:r>
          </a:p>
        </p:txBody>
      </p:sp>
    </p:spTree>
    <p:extLst>
      <p:ext uri="{BB962C8B-B14F-4D97-AF65-F5344CB8AC3E}">
        <p14:creationId xmlns:p14="http://schemas.microsoft.com/office/powerpoint/2010/main" val="271235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2933B-BBB3-49A0-9B90-DF000DF5D193}"/>
              </a:ext>
            </a:extLst>
          </p:cNvPr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C2903-6EA5-4F78-9336-920FB027B3E7}"/>
              </a:ext>
            </a:extLst>
          </p:cNvPr>
          <p:cNvSpPr txBox="1"/>
          <p:nvPr/>
        </p:nvSpPr>
        <p:spPr>
          <a:xfrm>
            <a:off x="0" y="-389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 – 2: Category-wise Sales &amp; Profit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24780-BA86-4339-B2D6-F30BEB8F2725}"/>
              </a:ext>
            </a:extLst>
          </p:cNvPr>
          <p:cNvSpPr txBox="1"/>
          <p:nvPr/>
        </p:nvSpPr>
        <p:spPr>
          <a:xfrm>
            <a:off x="-67519" y="5226784"/>
            <a:ext cx="123270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Sales and Profitability Insights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Electronics: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Leading category with the highest sales ($7,755,191.00), highest profit ($4,122,140.00), and a 53.15%.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Home &amp; Grocery: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Lower sales volume but excellent efficiency, boasting the highest profit margins at 55.80% and 55.57%.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Fashion: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Second in total sales ($6,934,777.00) but has the lowest profit margin (51.84%), indicating high cost or heavy disc.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Data Quality Alert: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 massive $5,369,973.00 in revenue is trapped under UNKNOWN, requiring an immediate data audit.</a:t>
            </a:r>
            <a:endParaRPr lang="en-IN" sz="20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09CF6-05E8-4DBC-A5B4-1D69C9E41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" y="632298"/>
            <a:ext cx="12190658" cy="459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6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CCB22C-AA94-4582-825F-10783FAAD7E5}"/>
              </a:ext>
            </a:extLst>
          </p:cNvPr>
          <p:cNvSpPr/>
          <p:nvPr/>
        </p:nvSpPr>
        <p:spPr>
          <a:xfrm>
            <a:off x="0" y="2"/>
            <a:ext cx="12192000" cy="6481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23E84-4793-41C3-A886-5B853DD07B4F}"/>
              </a:ext>
            </a:extLst>
          </p:cNvPr>
          <p:cNvSpPr txBox="1"/>
          <p:nvPr/>
        </p:nvSpPr>
        <p:spPr>
          <a:xfrm>
            <a:off x="0" y="185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 – 3: Loss-Making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A5659-7388-4709-A83F-2484A55B7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180"/>
            <a:ext cx="6084000" cy="399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B0A032-CD45-469F-874A-55BDBC73C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48180"/>
            <a:ext cx="6084000" cy="3993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5050D-2B05-4F65-B67E-F4906E92BCDD}"/>
              </a:ext>
            </a:extLst>
          </p:cNvPr>
          <p:cNvSpPr txBox="1"/>
          <p:nvPr/>
        </p:nvSpPr>
        <p:spPr>
          <a:xfrm>
            <a:off x="-12000" y="464144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Project Insights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High Deficit: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56 unique SKUs are structurally unprofitable across Fashion, Grocery, and Electronics.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Top Revenue Drains: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Product 521 (-7,368.00) and Product 1601 (-7,194.00) require immediate cost correction.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Data Quality Gaps: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Missing vendor details (“UNKNOWN”) create blind sports for supplier accountability.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Reprice or Drop: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Audit discount structures and base costs for the top 5 loss-making items.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Vendor Clean-up: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Trace “UNKNOWN” brands to identify negative-margin suppliers.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Category Review: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Investigate root causes for multiple leading loss-makers in the Fashion category.</a:t>
            </a:r>
            <a:endParaRPr lang="en-IN" sz="20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2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9E51C8-980E-479B-ABC2-C5D8FA003813}"/>
              </a:ext>
            </a:extLst>
          </p:cNvPr>
          <p:cNvSpPr/>
          <p:nvPr/>
        </p:nvSpPr>
        <p:spPr>
          <a:xfrm>
            <a:off x="0" y="1"/>
            <a:ext cx="12192000" cy="6463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08C60-4777-445E-A1C1-7C420D6936D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 – 4: Discount Usage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8CAF3-C127-4DCB-9BBA-086C42829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7"/>
            <a:ext cx="12191999" cy="4290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99C234-469B-4EEE-845C-85437013CE35}"/>
              </a:ext>
            </a:extLst>
          </p:cNvPr>
          <p:cNvSpPr txBox="1"/>
          <p:nvPr/>
        </p:nvSpPr>
        <p:spPr>
          <a:xfrm>
            <a:off x="-1" y="4942390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Strategic Discount Recommendations</a:t>
            </a:r>
          </a:p>
          <a:p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Based on the performance metrics showing 6,249 discounted orders and over 4.8M discount units used, here are the key recommendations to implement: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Thresholds: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Test lowering the 7.76 average discount.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Measure ROI: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Track if discount spending drives net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Perform Segment Analysis: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Identify high-discount customer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u="sng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9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6D9261-BCF0-47E2-B113-3D86FE2EB5DD}"/>
              </a:ext>
            </a:extLst>
          </p:cNvPr>
          <p:cNvSpPr/>
          <p:nvPr/>
        </p:nvSpPr>
        <p:spPr>
          <a:xfrm>
            <a:off x="0" y="2"/>
            <a:ext cx="12192000" cy="64633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A7636-350A-43D7-8964-E25B3E6ED44A}"/>
              </a:ext>
            </a:extLst>
          </p:cNvPr>
          <p:cNvSpPr txBox="1"/>
          <p:nvPr/>
        </p:nvSpPr>
        <p:spPr>
          <a:xfrm rot="10800000" flipH="1" flipV="1">
            <a:off x="0" y="-30777"/>
            <a:ext cx="12192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TASK-5: Payment Method Popularity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1150C-1413-41C4-AA96-7C276773C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42970"/>
            <a:ext cx="12192001" cy="3512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647CB4-A695-4CD2-83E5-77059109842E}"/>
              </a:ext>
            </a:extLst>
          </p:cNvPr>
          <p:cNvSpPr txBox="1"/>
          <p:nvPr/>
        </p:nvSpPr>
        <p:spPr>
          <a:xfrm>
            <a:off x="-1" y="4155312"/>
            <a:ext cx="12192001" cy="2966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Data Cleaning</a:t>
            </a:r>
          </a:p>
          <a:p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Three invalid records containing zero quantity and zero selling price, despite having ‘Delivered’ or ‘Shipped’ status, were removed from the “orders_v2” table before analysis. This helps prevent invalid transactions from affecting payment-method performance analysis.</a:t>
            </a:r>
          </a:p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UPI: Highest revenue (9.81M).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Wallet: Highest volume (3,409 orders).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Cards: Lowest volume (3,325) and revenue (9.26M)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Preference: Balanced across all methods (~3.3k-3.4k orders).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u="sng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79DB37-F980-45C3-B959-51951D78C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311053"/>
              </p:ext>
            </p:extLst>
          </p:nvPr>
        </p:nvGraphicFramePr>
        <p:xfrm>
          <a:off x="0" y="5370653"/>
          <a:ext cx="6204030" cy="1481560"/>
        </p:xfrm>
        <a:graphic>
          <a:graphicData uri="http://schemas.openxmlformats.org/drawingml/2006/table">
            <a:tbl>
              <a:tblPr/>
              <a:tblGrid>
                <a:gridCol w="6204030">
                  <a:extLst>
                    <a:ext uri="{9D8B030D-6E8A-4147-A177-3AD203B41FA5}">
                      <a16:colId xmlns:a16="http://schemas.microsoft.com/office/drawing/2014/main" val="2342067299"/>
                    </a:ext>
                  </a:extLst>
                </a:gridCol>
              </a:tblGrid>
              <a:tr h="14815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640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BD6882-8553-45D4-B07A-09F8391C9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416671"/>
              </p:ext>
            </p:extLst>
          </p:nvPr>
        </p:nvGraphicFramePr>
        <p:xfrm>
          <a:off x="6261905" y="5370653"/>
          <a:ext cx="5930095" cy="1481560"/>
        </p:xfrm>
        <a:graphic>
          <a:graphicData uri="http://schemas.openxmlformats.org/drawingml/2006/table">
            <a:tbl>
              <a:tblPr/>
              <a:tblGrid>
                <a:gridCol w="5930095">
                  <a:extLst>
                    <a:ext uri="{9D8B030D-6E8A-4147-A177-3AD203B41FA5}">
                      <a16:colId xmlns:a16="http://schemas.microsoft.com/office/drawing/2014/main" val="3012061766"/>
                    </a:ext>
                  </a:extLst>
                </a:gridCol>
              </a:tblGrid>
              <a:tr h="14815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4303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2E9A143-E7A0-4462-97F2-CB642B2A28FA}"/>
              </a:ext>
            </a:extLst>
          </p:cNvPr>
          <p:cNvSpPr txBox="1"/>
          <p:nvPr/>
        </p:nvSpPr>
        <p:spPr>
          <a:xfrm>
            <a:off x="6204030" y="5280421"/>
            <a:ext cx="6204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Recommendations: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Promote UPI: Offer incentives for highest financial return.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Boost Cards: Use bank partnerships and cashback.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Wallet: Launch loyalty points for frequent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Maintain Gateways: Keep all four payment options active.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u="sng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993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E5F4E3-297D-47B2-BBD1-FFADD5C091FF}"/>
              </a:ext>
            </a:extLst>
          </p:cNvPr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C0ADB-2708-4D4B-8CCF-14BC47C4F34E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TASK-6: Discount vs Profit Gap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DE417-F59C-4411-AA70-C10BCBA19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374"/>
            <a:ext cx="12192000" cy="4259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065E1B-4D80-4487-A834-84D431DFA6D5}"/>
              </a:ext>
            </a:extLst>
          </p:cNvPr>
          <p:cNvSpPr txBox="1"/>
          <p:nvPr/>
        </p:nvSpPr>
        <p:spPr>
          <a:xfrm>
            <a:off x="-68825" y="4906297"/>
            <a:ext cx="12260826" cy="207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Strategic Pricing Insights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Expand Strategic Discounting: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Scale up targeted promos-discounted orders yield a higher 54.95% profit margin vs. 53.12% for regular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Incentivize Larger Baskets: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Use discount thresholds-discounted transactions average 1,579.27 in profit vs 1,511.28 for non-discounted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Product Bundling: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Pair slower items with high-margin products to capture the 1.83% margin premium.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Audit Non-Discounted Pricing: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Review standard pricing structures to find out why regular items lag behind discounted ones.</a:t>
            </a:r>
            <a:endParaRPr lang="en-IN" sz="24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57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5899B-66F5-43C3-81F9-55ECACB8CA78}"/>
              </a:ext>
            </a:extLst>
          </p:cNvPr>
          <p:cNvSpPr/>
          <p:nvPr/>
        </p:nvSpPr>
        <p:spPr>
          <a:xfrm>
            <a:off x="0" y="1"/>
            <a:ext cx="12192000" cy="58477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75127-C7C6-4DC9-ABE6-0FA676A70240}"/>
              </a:ext>
            </a:extLst>
          </p:cNvPr>
          <p:cNvSpPr txBox="1"/>
          <p:nvPr/>
        </p:nvSpPr>
        <p:spPr>
          <a:xfrm>
            <a:off x="0" y="-6155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TASK-7: Return Impact on Revenue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AE431-4C92-4A4C-8C6D-B21713501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776"/>
            <a:ext cx="12192000" cy="4501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581CBF-E2AB-46F9-8378-25AD034C9E46}"/>
              </a:ext>
            </a:extLst>
          </p:cNvPr>
          <p:cNvSpPr txBox="1"/>
          <p:nvPr/>
        </p:nvSpPr>
        <p:spPr>
          <a:xfrm>
            <a:off x="0" y="5086494"/>
            <a:ext cx="32544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Financial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Revenue Loss: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$6,869,949.00</a:t>
            </a:r>
            <a:endParaRPr lang="en-IN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Profit Loss: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$3,701,529.00</a:t>
            </a:r>
            <a:endParaRPr lang="en-IN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Profit Margin Drop: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53.91% (caused by returns)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235D29E-00BB-4DC5-8BD3-EABF63584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250112"/>
              </p:ext>
            </p:extLst>
          </p:nvPr>
        </p:nvGraphicFramePr>
        <p:xfrm>
          <a:off x="3500284" y="5103673"/>
          <a:ext cx="8691716" cy="1754326"/>
        </p:xfrm>
        <a:graphic>
          <a:graphicData uri="http://schemas.openxmlformats.org/drawingml/2006/table">
            <a:tbl>
              <a:tblPr/>
              <a:tblGrid>
                <a:gridCol w="8691716">
                  <a:extLst>
                    <a:ext uri="{9D8B030D-6E8A-4147-A177-3AD203B41FA5}">
                      <a16:colId xmlns:a16="http://schemas.microsoft.com/office/drawing/2014/main" val="2690851776"/>
                    </a:ext>
                  </a:extLst>
                </a:gridCol>
              </a:tblGrid>
              <a:tr h="17543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6259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782019D-6AA6-4148-9655-9720E1DE29CD}"/>
              </a:ext>
            </a:extLst>
          </p:cNvPr>
          <p:cNvSpPr txBox="1"/>
          <p:nvPr/>
        </p:nvSpPr>
        <p:spPr>
          <a:xfrm>
            <a:off x="3657600" y="5086494"/>
            <a:ext cx="8534400" cy="1785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Strategic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Audit high-return items: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Identify and fix specific product quality or sizing defects.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Enhance product pages: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Upgrade descriptions, size guides, and images to align customer expectations.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reverse logistics: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Reduce processing costs to salvage margin from returned goods.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Tighten return policies: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Restrict return windows or incentivize exchanges over full refunds.</a:t>
            </a:r>
            <a:endParaRPr lang="en-IN" sz="20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971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5C7ABE-2883-4BDA-8E45-5544F593AA63}"/>
              </a:ext>
            </a:extLst>
          </p:cNvPr>
          <p:cNvSpPr/>
          <p:nvPr/>
        </p:nvSpPr>
        <p:spPr>
          <a:xfrm>
            <a:off x="0" y="1"/>
            <a:ext cx="12192000" cy="5483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A9B02-1286-430D-B8CC-5FE20CA27599}"/>
              </a:ext>
            </a:extLst>
          </p:cNvPr>
          <p:cNvSpPr txBox="1"/>
          <p:nvPr/>
        </p:nvSpPr>
        <p:spPr>
          <a:xfrm>
            <a:off x="0" y="-7974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TASK-8: Return Reason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7E22D-C855-4D23-9F40-AD6E15567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391"/>
            <a:ext cx="12192000" cy="4260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C5F5A-F792-4C2D-A125-FEB2D3AFF0DE}"/>
              </a:ext>
            </a:extLst>
          </p:cNvPr>
          <p:cNvSpPr txBox="1"/>
          <p:nvPr/>
        </p:nvSpPr>
        <p:spPr>
          <a:xfrm>
            <a:off x="0" y="4809106"/>
            <a:ext cx="12192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Data-Driven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Investigate “Unknown” Returns: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Mandatory surveys to fix 416 returns ($415.3k lost).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Engage Mind-Changing Customers: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Targeted incentives to curb 406 returns ($404.5k lost).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Enhance Product Listings: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Better sizing and 3D visuals to stop 416 returns ($393.2k lost).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Transit Damage Mitigation: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Upgrade to robust protective packaging to stop 391 returns ($390.1k lost).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Delivery Logistics: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Reliable carriers to prevent late delivery leaks ($387.2k lost).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Tighten Quality &amp; Supplier Audits: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Stricter quality/vendor checks to resolve 388 returns ($369.2k lost)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71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EA91F8-540D-41DC-9819-D641BFAD2F36}"/>
              </a:ext>
            </a:extLst>
          </p:cNvPr>
          <p:cNvSpPr/>
          <p:nvPr/>
        </p:nvSpPr>
        <p:spPr>
          <a:xfrm>
            <a:off x="0" y="1"/>
            <a:ext cx="12192000" cy="609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81960-B53F-413B-B915-4C3815BD8084}"/>
              </a:ext>
            </a:extLst>
          </p:cNvPr>
          <p:cNvSpPr txBox="1"/>
          <p:nvPr/>
        </p:nvSpPr>
        <p:spPr>
          <a:xfrm>
            <a:off x="0" y="-49142"/>
            <a:ext cx="12191999" cy="70788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TASK-9: Logistics Cost Burden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807E1-3BFE-42E4-9C9E-4CE0BBDDC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58744"/>
            <a:ext cx="6090539" cy="4286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C8399-97F3-4398-AA4B-50E11991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466" y="658744"/>
            <a:ext cx="6090534" cy="42868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104FF-048B-4337-978D-14AE181C4A47}"/>
              </a:ext>
            </a:extLst>
          </p:cNvPr>
          <p:cNvSpPr txBox="1"/>
          <p:nvPr/>
        </p:nvSpPr>
        <p:spPr>
          <a:xfrm>
            <a:off x="-10929" y="4945626"/>
            <a:ext cx="367836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Data Summary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Total analysed: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7,489 orders evaluated.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High-burden cost: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276 orders had shipping costs over 20% of product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Zero-revenue bleed: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361 orders generated zero revenue, draining 32,651 in logistics expenses.</a:t>
            </a:r>
            <a:endParaRPr lang="en-IN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0EE89B-FE15-4217-917F-25B21D685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65454"/>
              </p:ext>
            </p:extLst>
          </p:nvPr>
        </p:nvGraphicFramePr>
        <p:xfrm>
          <a:off x="4336026" y="4945626"/>
          <a:ext cx="7855973" cy="1912374"/>
        </p:xfrm>
        <a:graphic>
          <a:graphicData uri="http://schemas.openxmlformats.org/drawingml/2006/table">
            <a:tbl>
              <a:tblPr/>
              <a:tblGrid>
                <a:gridCol w="7855973">
                  <a:extLst>
                    <a:ext uri="{9D8B030D-6E8A-4147-A177-3AD203B41FA5}">
                      <a16:colId xmlns:a16="http://schemas.microsoft.com/office/drawing/2014/main" val="3367522059"/>
                    </a:ext>
                  </a:extLst>
                </a:gridCol>
              </a:tblGrid>
              <a:tr h="191237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0632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34F72B-8F97-4F57-A7DE-23F0908A75F3}"/>
              </a:ext>
            </a:extLst>
          </p:cNvPr>
          <p:cNvSpPr txBox="1"/>
          <p:nvPr/>
        </p:nvSpPr>
        <p:spPr>
          <a:xfrm>
            <a:off x="4336026" y="4955458"/>
            <a:ext cx="8121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Business Strategy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Set Minimum Order Value: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Stop low-value orders from hurting profits.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Revise Shipping Fees: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Charge flat or dynamic fees when delivery costs are too high.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Audit Zero-Value Orders: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Investigate why 361 orders had zero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Reverse Logistics: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Fix return policies to cut high return shipping costs.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Adjust Category Pricing: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Raise retail margins or bundle low-cost items together.</a:t>
            </a:r>
            <a:endParaRPr lang="en-IN" sz="40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218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E53996-9123-4235-83E6-87D41C9AF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40897"/>
              </p:ext>
            </p:extLst>
          </p:nvPr>
        </p:nvGraphicFramePr>
        <p:xfrm>
          <a:off x="0" y="0"/>
          <a:ext cx="12192000" cy="603115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1994233947"/>
                    </a:ext>
                  </a:extLst>
                </a:gridCol>
              </a:tblGrid>
              <a:tr h="60311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80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37F055-DDA4-4961-B0DA-EAF2A0E4BD90}"/>
              </a:ext>
            </a:extLst>
          </p:cNvPr>
          <p:cNvSpPr txBox="1"/>
          <p:nvPr/>
        </p:nvSpPr>
        <p:spPr>
          <a:xfrm>
            <a:off x="0" y="-5238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TASK-10: Payment Fee Leakage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807E4E-7921-40D0-BB82-62338D051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115"/>
            <a:ext cx="12192000" cy="4336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F9CB6F-3643-4763-8C42-2A3A288143A6}"/>
              </a:ext>
            </a:extLst>
          </p:cNvPr>
          <p:cNvSpPr txBox="1"/>
          <p:nvPr/>
        </p:nvSpPr>
        <p:spPr>
          <a:xfrm>
            <a:off x="0" y="4939445"/>
            <a:ext cx="12192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Business Strategy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Promote UPI heavily</a:t>
            </a:r>
            <a:r>
              <a:rPr lang="en-IN" sz="20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UPI is your most profitable channel, yielding the highest net profit of 3,150,904.21 due to the lowest gateway fee (71,605.79) and lowest net profit impact (2.22%).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COD terms: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COD causes the highest fee leakage at 204,095.40, reducing gross profits by a massive 6.42% down to a net profit of 2,972,464.61; consider adding a small convenience fee for cash collection.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Negotiate CARD and WALLET rates: </a:t>
            </a:r>
            <a:r>
              <a:rPr lang="en-IN" sz="14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Both methods carry similar moderate profit impacts (3.86% for CARD costing 117,408.91 in fees; 3.81% for WALLET costing 114,047.24); renegotiate terms with vendors to lower these transaction costs.</a:t>
            </a:r>
            <a:endParaRPr lang="en-IN" sz="2000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01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652CB3-FA1E-4A0C-863A-BAFAF28561D7}"/>
              </a:ext>
            </a:extLst>
          </p:cNvPr>
          <p:cNvSpPr/>
          <p:nvPr/>
        </p:nvSpPr>
        <p:spPr>
          <a:xfrm>
            <a:off x="0" y="0"/>
            <a:ext cx="12192000" cy="6128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01E8D-DDE2-47B1-97F6-79D426412E2D}"/>
              </a:ext>
            </a:extLst>
          </p:cNvPr>
          <p:cNvSpPr txBox="1"/>
          <p:nvPr/>
        </p:nvSpPr>
        <p:spPr>
          <a:xfrm>
            <a:off x="0" y="-475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dobe Garamond Pro Bold" panose="02020702060506020403" pitchFamily="18" charset="0"/>
              </a:rPr>
              <a:t>TASK-11: Revenue Leakage Breakdown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9A954-3D4A-4EA6-9CF0-3CF45C23F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843"/>
            <a:ext cx="6096000" cy="50521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7CCE78-9C3D-4C3C-9AB1-48AEE20AD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001" y="612843"/>
            <a:ext cx="6084000" cy="5052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10E3C2-1217-47AF-80EA-315707A57B22}"/>
              </a:ext>
            </a:extLst>
          </p:cNvPr>
          <p:cNvSpPr txBox="1"/>
          <p:nvPr/>
        </p:nvSpPr>
        <p:spPr>
          <a:xfrm>
            <a:off x="12001" y="5662310"/>
            <a:ext cx="12192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Strategic Recommendation for Revenue Leakage Mitigation: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Optimize discounts: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Restructure aggressive promotions to fix discount leakage, the top loss driver at $3.92M(~70% of total).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Renegotiate payments: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Audit gateway vendor terms to cut transaction fees, targeting the second-highest leakage at $969K.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Streamline logistics: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Evaluate fulfilment routes and carrier contracts to save $701K lost to operational inefficiencies.</a:t>
            </a:r>
            <a:endParaRPr lang="en-IN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77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E0097A-1BD9-4A99-8702-E6E1ECBAB42E}"/>
              </a:ext>
            </a:extLst>
          </p:cNvPr>
          <p:cNvSpPr/>
          <p:nvPr/>
        </p:nvSpPr>
        <p:spPr>
          <a:xfrm>
            <a:off x="0" y="1"/>
            <a:ext cx="12192000" cy="5739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>
                <a:solidFill>
                  <a:schemeClr val="tx1"/>
                </a:solidFill>
                <a:latin typeface="Adobe Garamond Pro Bold" panose="02020702060506020403" pitchFamily="18" charset="0"/>
              </a:rPr>
              <a:t>TASK-12 &amp; 13: Product Profitability and Category Margin Stability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A0E6F-2F58-4C9F-8674-45B88AE0D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99" y="573932"/>
            <a:ext cx="6096000" cy="3498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F1B25E-AF9B-4427-9997-29A62710B5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9076" r="1" b="-3878"/>
          <a:stretch/>
        </p:blipFill>
        <p:spPr>
          <a:xfrm>
            <a:off x="0" y="4079745"/>
            <a:ext cx="6081680" cy="1152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614156-7784-4DC2-987F-13AB25166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678" y="573932"/>
            <a:ext cx="6116319" cy="45222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A76049-B07A-4E52-B42D-86036A596269}"/>
              </a:ext>
            </a:extLst>
          </p:cNvPr>
          <p:cNvSpPr txBox="1"/>
          <p:nvPr/>
        </p:nvSpPr>
        <p:spPr>
          <a:xfrm>
            <a:off x="-23998" y="5096221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Strategic Profit &amp; Margin Optimization Initiative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Stabilize Home Category Pricing: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Address high margin volatility (62.9 SD) in the Home category to fix poor pricing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Capitalize on Beauty Margins: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Scale Beauty products due to their superior and stable average margin (42.66%).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Eliminate Bottom-Performer Leaks: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 Liquidate or reprice top loss-making products like Product 1661 (-$9,232.00).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Double Down on Grocery Winners: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Allocate more marketing spend to high-performing assets like Product 963 ($50,689.00).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Clean Data Anomaly Tracking: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Investigate the UNKNOWN category to resolve missing brand and product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u="sng" dirty="0">
              <a:solidFill>
                <a:schemeClr val="bg1"/>
              </a:solidFill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56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C0AF89-CEB0-42A8-AB45-05193C95D34B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5E9FC-C440-4A31-B19F-295960A08905}"/>
              </a:ext>
            </a:extLst>
          </p:cNvPr>
          <p:cNvSpPr txBox="1"/>
          <p:nvPr/>
        </p:nvSpPr>
        <p:spPr>
          <a:xfrm>
            <a:off x="0" y="6351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dobe Garamond Pro Bold" panose="02020702060506020403" pitchFamily="18" charset="0"/>
              </a:rPr>
              <a:t>Task- 14 &amp; 15: Customer Risk, Executive profitability &amp; Project 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AB4A1-934A-4F97-B9C6-D38913A5B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240"/>
            <a:ext cx="6096000" cy="3802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3BD92B-76FD-4E66-80C6-27ECFD2AB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160" y="650240"/>
            <a:ext cx="6085840" cy="3802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E1B515-588E-47C5-8874-E6C0EF83BD6C}"/>
              </a:ext>
            </a:extLst>
          </p:cNvPr>
          <p:cNvSpPr txBox="1"/>
          <p:nvPr/>
        </p:nvSpPr>
        <p:spPr>
          <a:xfrm>
            <a:off x="71120" y="4382016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Project Conclusion &amp;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Baseline Cohort: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Screened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1,950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 total customers and isolated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135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 high-priority anomalies (&gt;1 purchase).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Margin Impact: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Captured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$9.33M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net profit on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$38.49M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gross sales (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75.8%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margin compression).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Drain Points: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High-risk segments hit a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75%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 return rate, losing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$6.29M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 returns and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$691.9K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in logistics.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Fee Erosion: </a:t>
            </a: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Top-line revenue reduced by </a:t>
            </a:r>
            <a:r>
              <a:rPr lang="en-IN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$3.51M in discounts and $845.5K in processing fees.</a:t>
            </a:r>
          </a:p>
          <a:p>
            <a:r>
              <a:rPr lang="en-IN" sz="2000" u="sng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Strategic Next Steps &amp; Action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Audit high-risk customer segments to tackle the high return rate and improve logistics.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Restrict active discounting rules to stop further margin loss and fee erosion.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dobe Garamond Pro Bold" panose="02020702060506020403" pitchFamily="18" charset="0"/>
              </a:rPr>
              <a:t>Renegotiate processing fees to protect net profit margins.</a:t>
            </a:r>
          </a:p>
        </p:txBody>
      </p:sp>
    </p:spTree>
    <p:extLst>
      <p:ext uri="{BB962C8B-B14F-4D97-AF65-F5344CB8AC3E}">
        <p14:creationId xmlns:p14="http://schemas.microsoft.com/office/powerpoint/2010/main" val="1215832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6876</TotalTime>
  <Words>1394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Adobe Garamond Pro Bold</vt:lpstr>
      <vt:lpstr>Arial</vt:lpstr>
      <vt:lpstr>Bodoni MT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Sushreesangita Behera</dc:creator>
  <cp:lastModifiedBy>Sushreesangita Behera</cp:lastModifiedBy>
  <cp:revision>170</cp:revision>
  <dcterms:created xsi:type="dcterms:W3CDTF">2026-10-10T16:34:35Z</dcterms:created>
  <dcterms:modified xsi:type="dcterms:W3CDTF">2026-10-15T20:56:41Z</dcterms:modified>
</cp:coreProperties>
</file>